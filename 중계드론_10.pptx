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7" r:id="rId1"/>
  </p:sldMasterIdLst>
  <p:sldIdLst>
    <p:sldId id="256" r:id="rId2"/>
    <p:sldId id="257" r:id="rId3"/>
    <p:sldId id="287" r:id="rId4"/>
    <p:sldId id="293" r:id="rId5"/>
    <p:sldId id="292" r:id="rId6"/>
    <p:sldId id="295" r:id="rId7"/>
    <p:sldId id="300" r:id="rId8"/>
    <p:sldId id="296" r:id="rId9"/>
    <p:sldId id="297" r:id="rId10"/>
    <p:sldId id="298" r:id="rId11"/>
    <p:sldId id="299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706" autoAdjust="0"/>
  </p:normalViewPr>
  <p:slideViewPr>
    <p:cSldViewPr snapToGrid="0">
      <p:cViewPr varScale="1">
        <p:scale>
          <a:sx n="78" d="100"/>
          <a:sy n="78" d="100"/>
        </p:scale>
        <p:origin x="869" y="72"/>
      </p:cViewPr>
      <p:guideLst>
        <p:guide orient="horz" pos="2158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647E50-E1BE-480A-87A8-31EC9BBD8D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B98C10D-08E3-4BAD-9934-8623B7265F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8EF337-0B82-4E6E-A636-4640546AD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A08C-EF94-4A6B-BD12-6461CB40CEE6}" type="datetimeFigureOut">
              <a:rPr lang="ko-KR" altLang="en-US" smtClean="0"/>
              <a:t>2022-01-19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EDCEE0-D808-4C09-8260-F97C6D631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910E8C-7085-4648-A3C3-F6E664440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B66E-A506-4F32-84E5-F344782BD9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5111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4E4C23-F907-4E6D-A491-3D7E5A99F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40C1AD-66F4-430A-B930-3163AEAD9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202AC3-7DE4-46A2-B764-30A307482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A08C-EF94-4A6B-BD12-6461CB40CEE6}" type="datetimeFigureOut">
              <a:rPr lang="ko-KR" altLang="en-US" smtClean="0"/>
              <a:t>2022-01-19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CE7FC80-1F56-4F6E-9B34-F355FCAB7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599F24-16F4-4B2A-B6BB-DDEEA369D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B66E-A506-4F32-84E5-F344782BD9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020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99E811-F132-4E2A-B962-E695376C1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ADCAD16-C84A-4C83-ACD0-F824C43281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1A26D91-5322-4173-91CB-E5C6F0708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A08C-EF94-4A6B-BD12-6461CB40CEE6}" type="datetimeFigureOut">
              <a:rPr lang="ko-KR" altLang="en-US" smtClean="0"/>
              <a:t>2022-01-19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41B30F-648A-4D07-9DC7-26E4BE3DC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83AE05-90BC-443E-A190-1A57A203C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B66E-A506-4F32-84E5-F344782BD9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853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20D81D-90B7-43D9-887E-B2224E9D4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26C520-4AB0-4381-B939-F402DFD7C1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121DA69-FDC7-448A-9C68-184A03994D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0D2B867-2677-4DAC-8963-CA61B6680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A08C-EF94-4A6B-BD12-6461CB40CEE6}" type="datetimeFigureOut">
              <a:rPr lang="ko-KR" altLang="en-US" smtClean="0"/>
              <a:t>2022-01-19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CC15F40-C02C-4EAB-9CEA-056056AE8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7752D15-5286-419B-9A8A-872F3A6BF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B66E-A506-4F32-84E5-F344782BD9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602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5062D3-9ECA-45BD-BD87-07F7D9C03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669A32D-8825-44A7-8DF3-ECDAB1FEC4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B8DB7C6-FFE4-4520-9751-FD143BCD55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4111589-9358-41A3-86E8-218AC545F5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83D2F7A-B09C-494D-AABB-14431B44A5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70A92DC-AB6E-4BE9-BCF3-AFB36D7E1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A08C-EF94-4A6B-BD12-6461CB40CEE6}" type="datetimeFigureOut">
              <a:rPr lang="ko-KR" altLang="en-US" smtClean="0"/>
              <a:t>2022-01-19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EF46119-1B1F-465A-B088-85118B4FD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DFA819E-4A6E-45C9-A382-46BAE105B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B66E-A506-4F32-84E5-F344782BD9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6948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125014-2BAD-4B22-953E-28B4B4D02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303112B-E2F7-4884-ADDF-9B4D49A14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A08C-EF94-4A6B-BD12-6461CB40CEE6}" type="datetimeFigureOut">
              <a:rPr lang="ko-KR" altLang="en-US" smtClean="0"/>
              <a:t>2022-01-19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63BF32F-66A8-43A7-88BB-D22806E5D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AB36C3-026A-459F-8BFC-475C8EBCD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B66E-A506-4F32-84E5-F344782BD9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2952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F4CBDD4-DD57-4EC6-BFEF-9D8267D77E22}"/>
              </a:ext>
            </a:extLst>
          </p:cNvPr>
          <p:cNvSpPr txBox="1"/>
          <p:nvPr userDrawn="1"/>
        </p:nvSpPr>
        <p:spPr>
          <a:xfrm>
            <a:off x="9964905" y="6582130"/>
            <a:ext cx="21948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ⓒSaebyeol Yu.</a:t>
            </a:r>
            <a:r>
              <a:rPr lang="ko-KR" alt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Saebyeol’s</a:t>
            </a:r>
            <a:r>
              <a:rPr lang="ko-KR" alt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PowerPoint</a:t>
            </a:r>
            <a:endParaRPr lang="ko-KR" altLang="en-US" sz="9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52AC692-7268-4D95-8F19-722C37C73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A08C-EF94-4A6B-BD12-6461CB40CEE6}" type="datetimeFigureOut">
              <a:rPr lang="ko-KR" altLang="en-US" smtClean="0"/>
              <a:t>2022-01-19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CB42C91-C67F-4DFF-B144-EA7ED7DDC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7D9541-A6B9-4942-BC4A-7EC0EA31A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B66E-A506-4F32-84E5-F344782BD9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5154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A993E7-E5B8-4992-AF88-BE5E069DB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9E56B5-89D6-4434-AFE2-10910E648E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C9E89AE-7640-4DEE-83EC-558650957D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F82ADBB-CB0C-44B6-874A-9FE0E6B0B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A08C-EF94-4A6B-BD12-6461CB40CEE6}" type="datetimeFigureOut">
              <a:rPr lang="ko-KR" altLang="en-US" smtClean="0"/>
              <a:t>2022-01-19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B32C452-D876-41FB-AA00-7B4AC0919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7668ED6-8F1B-4FAA-8793-2D5D9D0A6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B66E-A506-4F32-84E5-F344782BD9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4505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885C01-AA51-407B-BC7B-FE6B40690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AEFE3FC-556C-41B8-BD62-1E94E42D41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C658969-AAF7-486A-A3D5-2BF3390E3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4215A57-D6ED-4EDA-981D-59434A477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A08C-EF94-4A6B-BD12-6461CB40CEE6}" type="datetimeFigureOut">
              <a:rPr lang="ko-KR" altLang="en-US" smtClean="0"/>
              <a:t>2022-01-19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9BDCAD1-E41F-4F46-AE84-1BEC50DCF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4622BF4-68B3-4DA1-A704-FE1D9961C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B66E-A506-4F32-84E5-F344782BD9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5644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89CAC0-F41F-4E8C-BFBA-980DB4A7B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05F3A00-B109-4376-AA48-5E7B5464E2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743BB4-F08C-4048-8C8F-28EB79B3E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A08C-EF94-4A6B-BD12-6461CB40CEE6}" type="datetimeFigureOut">
              <a:rPr lang="ko-KR" altLang="en-US" smtClean="0"/>
              <a:t>2022-01-19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3B118A-D773-438E-9FCC-E98AC84BD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363AA0-21C8-4A59-A8F0-04E217F79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B66E-A506-4F32-84E5-F344782BD9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8782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DF418F2-4099-4266-AA90-9B0C225B82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39F3734-B5CF-47EC-8D79-5D639BDEA2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5EC87E-D5AB-43A7-8022-58A66741C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A08C-EF94-4A6B-BD12-6461CB40CEE6}" type="datetimeFigureOut">
              <a:rPr lang="ko-KR" altLang="en-US" smtClean="0"/>
              <a:t>2022-01-19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0430F32-9B8D-4781-90FC-B1778C6FB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943733-2338-4CB3-ADB4-CEECF89A4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B66E-A506-4F32-84E5-F344782BD9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6747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08B2DF7-6E62-4A2B-93E3-D9F1E95C9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D96D0E9-8EC4-42DB-9B37-47D449A17C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151153-4AB9-4CFA-8ABD-245697E91F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92A08C-EF94-4A6B-BD12-6461CB40CEE6}" type="datetimeFigureOut">
              <a:rPr lang="ko-KR" altLang="en-US" smtClean="0"/>
              <a:t>2022-01-19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9DED0B-BA23-4D49-9944-C420C36E3F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BD6E46-082A-488A-B507-08943ECEC6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F9B66E-A506-4F32-84E5-F344782BD9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0507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01A455CC-6EA2-4AE0-B94B-65979202CBA2}"/>
              </a:ext>
            </a:extLst>
          </p:cNvPr>
          <p:cNvSpPr/>
          <p:nvPr/>
        </p:nvSpPr>
        <p:spPr>
          <a:xfrm>
            <a:off x="0" y="4010"/>
            <a:ext cx="12192000" cy="685398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>
              <a:solidFill>
                <a:srgbClr val="C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18760" y="4897120"/>
            <a:ext cx="1459230" cy="358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>
                <a:solidFill>
                  <a:schemeClr val="accent4">
                    <a:lumMod val="50000"/>
                  </a:schemeClr>
                </a:solidFill>
              </a:rPr>
              <a:t>Realy Drone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28900" y="4418996"/>
            <a:ext cx="6934199" cy="451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2400" spc="-150">
                <a:solidFill>
                  <a:schemeClr val="accent4">
                    <a:lumMod val="50000"/>
                  </a:schemeClr>
                </a:solidFill>
                <a:latin typeface="+mj-ea"/>
                <a:ea typeface="+mj-ea"/>
                <a:cs typeface="+mn-cs"/>
              </a:rPr>
              <a:t>중계드론팀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333749" y="1138049"/>
            <a:ext cx="5524500" cy="30758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c="http://schemas.openxmlformats.org/drawingml/2006/chart" xmlns:dgm="http://schemas.openxmlformats.org/drawingml/2006/diagram" xmlns:dsp="http://schemas.microsoft.com/office/drawing/2008/diagram"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894080" y="955040"/>
            <a:ext cx="5029200" cy="50292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3972560" y="1412240"/>
            <a:ext cx="2824480" cy="28244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7086332" y="2228671"/>
            <a:ext cx="3411511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600" spc="-300" dirty="0">
                <a:solidFill>
                  <a:schemeClr val="accent4">
                    <a:lumMod val="50000"/>
                  </a:schemeClr>
                </a:solidFill>
              </a:rPr>
              <a:t>저번 주 성과 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70800" y="3100308"/>
            <a:ext cx="243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endParaRPr lang="ko-KR" altLang="en-US" sz="1800" spc="-30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27376" y="1633249"/>
            <a:ext cx="665567" cy="11079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6600" b="1" dirty="0">
                <a:solidFill>
                  <a:srgbClr val="0070C0"/>
                </a:solidFill>
              </a:rPr>
              <a:t>1</a:t>
            </a:r>
            <a:endParaRPr lang="ko-KR" altLang="en-US" sz="6600" b="1" dirty="0">
              <a:solidFill>
                <a:srgbClr val="0070C0"/>
              </a:solidFill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39150" y="1800224"/>
            <a:ext cx="5837209" cy="386715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c="http://schemas.openxmlformats.org/drawingml/2006/chart" xmlns:dgm="http://schemas.openxmlformats.org/drawingml/2006/diagram" xmlns:dsp="http://schemas.microsoft.com/office/drawing/2008/diagram"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20000" y="1049009"/>
            <a:ext cx="5760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0" y="1049009"/>
            <a:ext cx="720000" cy="108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719998" y="121920"/>
            <a:ext cx="300915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200" spc="-300" dirty="0">
                <a:solidFill>
                  <a:schemeClr val="accent4">
                    <a:lumMod val="50000"/>
                  </a:schemeClr>
                </a:solidFill>
              </a:rPr>
              <a:t>저번 주 성과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5879" y="46855"/>
            <a:ext cx="534211" cy="8180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4800" b="1">
                <a:solidFill>
                  <a:schemeClr val="accent4"/>
                </a:solidFill>
              </a:rPr>
              <a:t>1</a:t>
            </a:r>
            <a:endParaRPr lang="ko-KR" altLang="en-US" sz="4800" b="1">
              <a:solidFill>
                <a:schemeClr val="accent4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360000" y="1365804"/>
            <a:ext cx="11538856" cy="464074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360000" y="1328166"/>
            <a:ext cx="11538856" cy="35366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903B878-2528-4386-BDCD-07ADB34C0A9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242" t="11399" r="33196" b="17388"/>
          <a:stretch/>
        </p:blipFill>
        <p:spPr>
          <a:xfrm>
            <a:off x="1260892" y="1852988"/>
            <a:ext cx="5527009" cy="4467051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C9823107-FB1A-427D-B950-B225A0813DED}"/>
              </a:ext>
            </a:extLst>
          </p:cNvPr>
          <p:cNvSpPr/>
          <p:nvPr/>
        </p:nvSpPr>
        <p:spPr>
          <a:xfrm>
            <a:off x="7688793" y="2407959"/>
            <a:ext cx="2855860" cy="308423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딜레이가 없는 중계시스템 뼈대 구축완료</a:t>
            </a:r>
          </a:p>
        </p:txBody>
      </p:sp>
    </p:spTree>
    <p:extLst>
      <p:ext uri="{BB962C8B-B14F-4D97-AF65-F5344CB8AC3E}">
        <p14:creationId xmlns:p14="http://schemas.microsoft.com/office/powerpoint/2010/main" val="881688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894080" y="955040"/>
            <a:ext cx="5029200" cy="50292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3972560" y="1412240"/>
            <a:ext cx="2824480" cy="28244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7086332" y="2228671"/>
            <a:ext cx="1965603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600" spc="-300" dirty="0">
                <a:solidFill>
                  <a:schemeClr val="accent4">
                    <a:lumMod val="50000"/>
                  </a:schemeClr>
                </a:solidFill>
              </a:rPr>
              <a:t>모터 선정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70800" y="3100308"/>
            <a:ext cx="243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endParaRPr lang="ko-KR" altLang="en-US" sz="1800" spc="-30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27376" y="1633249"/>
            <a:ext cx="665567" cy="11079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6600" b="1" dirty="0">
                <a:solidFill>
                  <a:schemeClr val="accent5">
                    <a:lumMod val="90000"/>
                  </a:schemeClr>
                </a:solidFill>
              </a:rPr>
              <a:t>2</a:t>
            </a:r>
            <a:endParaRPr lang="ko-KR" altLang="en-US" sz="6600" b="1" dirty="0">
              <a:solidFill>
                <a:schemeClr val="accent5">
                  <a:lumMod val="90000"/>
                </a:schemeClr>
              </a:solidFill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39150" y="1800224"/>
            <a:ext cx="5837209" cy="3867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04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c="http://schemas.openxmlformats.org/drawingml/2006/chart" xmlns:dgm="http://schemas.openxmlformats.org/drawingml/2006/diagram" xmlns:dsp="http://schemas.microsoft.com/office/drawing/2008/diagram"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20000" y="1049009"/>
            <a:ext cx="5760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0" y="1049009"/>
            <a:ext cx="720000" cy="108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719998" y="121920"/>
            <a:ext cx="174599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200" spc="-300" dirty="0">
                <a:solidFill>
                  <a:schemeClr val="accent4">
                    <a:lumMod val="50000"/>
                  </a:schemeClr>
                </a:solidFill>
              </a:rPr>
              <a:t>모터 선정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5879" y="46855"/>
            <a:ext cx="534121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4800" b="1" dirty="0">
                <a:solidFill>
                  <a:schemeClr val="accent4"/>
                </a:solidFill>
              </a:rPr>
              <a:t>2</a:t>
            </a:r>
            <a:endParaRPr lang="ko-KR" altLang="en-US" sz="4800" b="1" dirty="0">
              <a:solidFill>
                <a:schemeClr val="accent4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360000" y="1366057"/>
            <a:ext cx="11543246" cy="465351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360000" y="1328166"/>
            <a:ext cx="11538856" cy="35366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34CA08D-6EB6-4A0F-A640-BB7F51238D6A}"/>
              </a:ext>
            </a:extLst>
          </p:cNvPr>
          <p:cNvSpPr/>
          <p:nvPr/>
        </p:nvSpPr>
        <p:spPr>
          <a:xfrm>
            <a:off x="6925028" y="2186788"/>
            <a:ext cx="2855860" cy="308423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드론은</a:t>
            </a:r>
            <a:r>
              <a:rPr lang="ko-KR" altLang="en-US" dirty="0"/>
              <a:t> 반복적인 회전으로 모터의 내구성이 </a:t>
            </a:r>
            <a:r>
              <a:rPr lang="ko-KR" altLang="en-US" dirty="0" err="1"/>
              <a:t>좋아야하기</a:t>
            </a:r>
            <a:r>
              <a:rPr lang="ko-KR" altLang="en-US" dirty="0"/>
              <a:t> 때문에 </a:t>
            </a:r>
            <a:r>
              <a:rPr lang="en-US" altLang="ko-KR" dirty="0"/>
              <a:t>BLDC</a:t>
            </a:r>
            <a:r>
              <a:rPr lang="ko-KR" altLang="en-US" dirty="0"/>
              <a:t>모터로 </a:t>
            </a:r>
            <a:endParaRPr lang="en-US" altLang="ko-KR" dirty="0"/>
          </a:p>
          <a:p>
            <a:pPr algn="ctr"/>
            <a:r>
              <a:rPr lang="ko-KR" altLang="en-US" dirty="0"/>
              <a:t>선정 하였습니다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11" name="Picture 6" descr="티모터(T-motor) MN3508 KV700 BLDC 모터 - SYS DRONE MALL">
            <a:extLst>
              <a:ext uri="{FF2B5EF4-FFF2-40B4-BE49-F238E27FC236}">
                <a16:creationId xmlns:a16="http://schemas.microsoft.com/office/drawing/2014/main" id="{1AB2A042-4986-4CF6-8682-E8B6D5D131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4773" y="2186788"/>
            <a:ext cx="2945709" cy="3012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E85E1159-34C3-4EFF-A2F5-F8153E2D3EDA}"/>
              </a:ext>
            </a:extLst>
          </p:cNvPr>
          <p:cNvSpPr/>
          <p:nvPr/>
        </p:nvSpPr>
        <p:spPr>
          <a:xfrm>
            <a:off x="1484671" y="5358581"/>
            <a:ext cx="3913239" cy="45041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연구실에 있던 </a:t>
            </a:r>
            <a:r>
              <a:rPr lang="en-US" altLang="ko-KR" dirty="0"/>
              <a:t>MN3508</a:t>
            </a:r>
            <a:r>
              <a:rPr lang="ko-KR" altLang="en-US" dirty="0"/>
              <a:t> </a:t>
            </a:r>
            <a:r>
              <a:rPr lang="en-US" altLang="ko-KR" dirty="0"/>
              <a:t>KV700</a:t>
            </a:r>
            <a:r>
              <a:rPr lang="ko-KR" altLang="en-US" dirty="0"/>
              <a:t>모터</a:t>
            </a:r>
          </a:p>
        </p:txBody>
      </p:sp>
    </p:spTree>
    <p:extLst>
      <p:ext uri="{BB962C8B-B14F-4D97-AF65-F5344CB8AC3E}">
        <p14:creationId xmlns:p14="http://schemas.microsoft.com/office/powerpoint/2010/main" val="1644425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20000" y="1049009"/>
            <a:ext cx="5760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0" y="1049009"/>
            <a:ext cx="720000" cy="108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719998" y="121920"/>
            <a:ext cx="174599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200" spc="-300" dirty="0">
                <a:solidFill>
                  <a:schemeClr val="accent4">
                    <a:lumMod val="50000"/>
                  </a:schemeClr>
                </a:solidFill>
              </a:rPr>
              <a:t>모터 선정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5879" y="46855"/>
            <a:ext cx="534121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4800" b="1" dirty="0">
                <a:solidFill>
                  <a:schemeClr val="accent4"/>
                </a:solidFill>
              </a:rPr>
              <a:t>2</a:t>
            </a:r>
            <a:endParaRPr lang="ko-KR" altLang="en-US" sz="4800" b="1" dirty="0">
              <a:solidFill>
                <a:schemeClr val="accent4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360000" y="1429326"/>
            <a:ext cx="11543246" cy="465351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360000" y="1328166"/>
            <a:ext cx="11538856" cy="35366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5AE29555-9DA3-4ED0-B982-977B2F9FD60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449" t="19653" r="14253" b="11194"/>
          <a:stretch/>
        </p:blipFill>
        <p:spPr>
          <a:xfrm>
            <a:off x="360000" y="1490722"/>
            <a:ext cx="5994653" cy="3999783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ECAAC182-4242-426C-B85F-2DB89373A0B7}"/>
              </a:ext>
            </a:extLst>
          </p:cNvPr>
          <p:cNvSpPr/>
          <p:nvPr/>
        </p:nvSpPr>
        <p:spPr>
          <a:xfrm>
            <a:off x="452939" y="5528397"/>
            <a:ext cx="5771535" cy="45041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MN3508 KV700</a:t>
            </a:r>
            <a:r>
              <a:rPr lang="ko-KR" altLang="en-US" dirty="0"/>
              <a:t>의 전압과 프로펠러별 추력 발생량 표</a:t>
            </a: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73E5485A-2967-4247-81A7-0D67343D146C}"/>
              </a:ext>
            </a:extLst>
          </p:cNvPr>
          <p:cNvSpPr/>
          <p:nvPr/>
        </p:nvSpPr>
        <p:spPr>
          <a:xfrm>
            <a:off x="3854246" y="3490613"/>
            <a:ext cx="855406" cy="265471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AECBDEB-8750-4C4F-A81E-E1DC02E70E1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6966" y="2340077"/>
            <a:ext cx="4478735" cy="3083796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0B890A82-CE78-461C-9602-D8102B48CC46}"/>
              </a:ext>
            </a:extLst>
          </p:cNvPr>
          <p:cNvSpPr/>
          <p:nvPr/>
        </p:nvSpPr>
        <p:spPr>
          <a:xfrm>
            <a:off x="7019705" y="2188587"/>
            <a:ext cx="2855860" cy="308423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highlight>
                  <a:srgbClr val="800000"/>
                </a:highlight>
              </a:rPr>
              <a:t>13º4.4CF </a:t>
            </a:r>
            <a:r>
              <a:rPr lang="ko-KR" altLang="en-US" dirty="0">
                <a:highlight>
                  <a:srgbClr val="800000"/>
                </a:highlight>
              </a:rPr>
              <a:t>기준 </a:t>
            </a:r>
            <a:r>
              <a:rPr lang="en-US" altLang="ko-KR" dirty="0">
                <a:highlight>
                  <a:srgbClr val="800000"/>
                </a:highlight>
              </a:rPr>
              <a:t>100%</a:t>
            </a:r>
            <a:r>
              <a:rPr lang="ko-KR" altLang="en-US" dirty="0">
                <a:highlight>
                  <a:srgbClr val="800000"/>
                </a:highlight>
              </a:rPr>
              <a:t>의 출력 발생시 </a:t>
            </a:r>
            <a:r>
              <a:rPr lang="en-US" altLang="ko-KR" dirty="0">
                <a:highlight>
                  <a:srgbClr val="800000"/>
                </a:highlight>
              </a:rPr>
              <a:t>1.02kg</a:t>
            </a:r>
            <a:r>
              <a:rPr lang="ko-KR" altLang="en-US" dirty="0">
                <a:highlight>
                  <a:srgbClr val="800000"/>
                </a:highlight>
              </a:rPr>
              <a:t>의 추력을 발생시킨다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39A4BC9-229E-4C46-85A4-FAEF79CDF38B}"/>
              </a:ext>
            </a:extLst>
          </p:cNvPr>
          <p:cNvSpPr/>
          <p:nvPr/>
        </p:nvSpPr>
        <p:spPr>
          <a:xfrm>
            <a:off x="7019705" y="2213964"/>
            <a:ext cx="2855860" cy="308423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highlight>
                  <a:srgbClr val="800000"/>
                </a:highlight>
              </a:rPr>
              <a:t>최대한 </a:t>
            </a:r>
            <a:r>
              <a:rPr lang="ko-KR" altLang="en-US" dirty="0" err="1">
                <a:highlight>
                  <a:srgbClr val="800000"/>
                </a:highlight>
              </a:rPr>
              <a:t>오래지속되기</a:t>
            </a:r>
            <a:r>
              <a:rPr lang="ko-KR" altLang="en-US" dirty="0">
                <a:highlight>
                  <a:srgbClr val="800000"/>
                </a:highlight>
              </a:rPr>
              <a:t> 위해 두가지의 </a:t>
            </a:r>
            <a:r>
              <a:rPr lang="ko-KR" altLang="en-US" dirty="0" err="1">
                <a:highlight>
                  <a:srgbClr val="800000"/>
                </a:highlight>
              </a:rPr>
              <a:t>전압중</a:t>
            </a:r>
            <a:r>
              <a:rPr lang="ko-KR" altLang="en-US" dirty="0">
                <a:highlight>
                  <a:srgbClr val="800000"/>
                </a:highlight>
              </a:rPr>
              <a:t> 더 낮은 전압선택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841D80D-75B1-42F1-B8AF-5F4A291030DF}"/>
              </a:ext>
            </a:extLst>
          </p:cNvPr>
          <p:cNvSpPr/>
          <p:nvPr/>
        </p:nvSpPr>
        <p:spPr>
          <a:xfrm>
            <a:off x="7019705" y="2201275"/>
            <a:ext cx="2855860" cy="308423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highlight>
                  <a:srgbClr val="800000"/>
                </a:highlight>
              </a:rPr>
              <a:t>쿼드콥터로</a:t>
            </a:r>
            <a:r>
              <a:rPr lang="ko-KR" altLang="en-US" dirty="0">
                <a:highlight>
                  <a:srgbClr val="800000"/>
                </a:highlight>
              </a:rPr>
              <a:t> 선정한 만큼 </a:t>
            </a:r>
            <a:r>
              <a:rPr lang="en-US" altLang="ko-KR" dirty="0">
                <a:highlight>
                  <a:srgbClr val="800000"/>
                </a:highlight>
              </a:rPr>
              <a:t>4</a:t>
            </a:r>
            <a:r>
              <a:rPr lang="ko-KR" altLang="en-US" dirty="0">
                <a:highlight>
                  <a:srgbClr val="800000"/>
                </a:highlight>
              </a:rPr>
              <a:t>키로의 추력이 발생하여 안정적으로 운행하기 위해 </a:t>
            </a:r>
            <a:r>
              <a:rPr lang="en-US" altLang="ko-KR" dirty="0">
                <a:highlight>
                  <a:srgbClr val="800000"/>
                </a:highlight>
              </a:rPr>
              <a:t>3.2kg</a:t>
            </a:r>
            <a:r>
              <a:rPr lang="ko-KR" altLang="en-US" dirty="0">
                <a:highlight>
                  <a:srgbClr val="800000"/>
                </a:highlight>
              </a:rPr>
              <a:t> 정도의 무게로 선정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574098D-BA45-42E9-8432-34ECE3862F38}"/>
              </a:ext>
            </a:extLst>
          </p:cNvPr>
          <p:cNvSpPr/>
          <p:nvPr/>
        </p:nvSpPr>
        <p:spPr>
          <a:xfrm>
            <a:off x="7019705" y="2175898"/>
            <a:ext cx="2855860" cy="308423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highlight>
                  <a:srgbClr val="800000"/>
                </a:highlight>
              </a:rPr>
              <a:t>메인드론은</a:t>
            </a:r>
            <a:r>
              <a:rPr lang="ko-KR" altLang="en-US" dirty="0">
                <a:highlight>
                  <a:srgbClr val="800000"/>
                </a:highlight>
              </a:rPr>
              <a:t> 카메라를 </a:t>
            </a:r>
            <a:r>
              <a:rPr lang="ko-KR" altLang="en-US" dirty="0" err="1">
                <a:highlight>
                  <a:srgbClr val="800000"/>
                </a:highlight>
              </a:rPr>
              <a:t>달기위해</a:t>
            </a:r>
            <a:r>
              <a:rPr lang="ko-KR" altLang="en-US" dirty="0">
                <a:highlight>
                  <a:srgbClr val="800000"/>
                </a:highlight>
              </a:rPr>
              <a:t> 무거운 무게와 강한 추력으로 선정했고 </a:t>
            </a:r>
            <a:r>
              <a:rPr lang="ko-KR" altLang="en-US" dirty="0" err="1">
                <a:highlight>
                  <a:srgbClr val="800000"/>
                </a:highlight>
              </a:rPr>
              <a:t>중계드론은</a:t>
            </a:r>
            <a:r>
              <a:rPr lang="ko-KR" altLang="en-US" dirty="0">
                <a:highlight>
                  <a:srgbClr val="800000"/>
                </a:highlight>
              </a:rPr>
              <a:t> 신호 중계만 </a:t>
            </a:r>
            <a:r>
              <a:rPr lang="ko-KR" altLang="en-US" dirty="0" err="1">
                <a:highlight>
                  <a:srgbClr val="800000"/>
                </a:highlight>
              </a:rPr>
              <a:t>할것이기</a:t>
            </a:r>
            <a:r>
              <a:rPr lang="ko-KR" altLang="en-US" dirty="0">
                <a:highlight>
                  <a:srgbClr val="800000"/>
                </a:highlight>
              </a:rPr>
              <a:t> 때문에 더욱 경량화해서 제작 고려 중 </a:t>
            </a:r>
          </a:p>
        </p:txBody>
      </p:sp>
    </p:spTree>
    <p:extLst>
      <p:ext uri="{BB962C8B-B14F-4D97-AF65-F5344CB8AC3E}">
        <p14:creationId xmlns:p14="http://schemas.microsoft.com/office/powerpoint/2010/main" val="2441716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3" grpId="0" animBg="1"/>
      <p:bldP spid="14" grpId="0" animBg="1"/>
      <p:bldP spid="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20000" y="1049009"/>
            <a:ext cx="5760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0" y="1049009"/>
            <a:ext cx="720000" cy="108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719998" y="121920"/>
            <a:ext cx="174599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200" spc="-300" dirty="0">
                <a:solidFill>
                  <a:schemeClr val="accent4">
                    <a:lumMod val="50000"/>
                  </a:schemeClr>
                </a:solidFill>
              </a:rPr>
              <a:t>모터 선정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5879" y="46855"/>
            <a:ext cx="534121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4800" b="1" dirty="0">
                <a:solidFill>
                  <a:schemeClr val="accent4"/>
                </a:solidFill>
              </a:rPr>
              <a:t>2</a:t>
            </a:r>
            <a:endParaRPr lang="ko-KR" altLang="en-US" sz="4800" b="1" dirty="0">
              <a:solidFill>
                <a:schemeClr val="accent4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360000" y="1380681"/>
            <a:ext cx="11543246" cy="465351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360000" y="1328166"/>
            <a:ext cx="11538856" cy="35366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34CA08D-6EB6-4A0F-A640-BB7F51238D6A}"/>
              </a:ext>
            </a:extLst>
          </p:cNvPr>
          <p:cNvSpPr/>
          <p:nvPr/>
        </p:nvSpPr>
        <p:spPr>
          <a:xfrm>
            <a:off x="7381520" y="2407705"/>
            <a:ext cx="2855860" cy="308423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highlight>
                  <a:srgbClr val="800000"/>
                </a:highlight>
              </a:rPr>
              <a:t>그러나 </a:t>
            </a:r>
            <a:r>
              <a:rPr lang="en-US" altLang="ko-KR" dirty="0">
                <a:highlight>
                  <a:srgbClr val="800000"/>
                </a:highlight>
              </a:rPr>
              <a:t>BLDC</a:t>
            </a:r>
            <a:r>
              <a:rPr lang="ko-KR" altLang="en-US" dirty="0">
                <a:highlight>
                  <a:srgbClr val="800000"/>
                </a:highlight>
              </a:rPr>
              <a:t>모터를 돌리기 위해서는 </a:t>
            </a:r>
            <a:r>
              <a:rPr lang="en-US" altLang="ko-KR" dirty="0">
                <a:highlight>
                  <a:srgbClr val="800000"/>
                </a:highlight>
              </a:rPr>
              <a:t>ESC</a:t>
            </a:r>
            <a:r>
              <a:rPr lang="ko-KR" altLang="en-US" dirty="0">
                <a:highlight>
                  <a:srgbClr val="800000"/>
                </a:highlight>
              </a:rPr>
              <a:t>라는 </a:t>
            </a:r>
            <a:endParaRPr lang="en-US" altLang="ko-KR" dirty="0">
              <a:highlight>
                <a:srgbClr val="800000"/>
              </a:highlight>
            </a:endParaRPr>
          </a:p>
          <a:p>
            <a:pPr algn="ctr"/>
            <a:r>
              <a:rPr lang="ko-KR" altLang="en-US" dirty="0">
                <a:highlight>
                  <a:srgbClr val="800000"/>
                </a:highlight>
              </a:rPr>
              <a:t>전자변속기가 필요함</a:t>
            </a:r>
          </a:p>
        </p:txBody>
      </p:sp>
      <p:pic>
        <p:nvPicPr>
          <p:cNvPr id="13" name="Picture 2" descr="성지전자 브러쉬리스모터용 전자 변속기 35A Brsuhless Control ESC (5.5~15V/G2) *헬기 비행기 및 자동차  사용가능]">
            <a:extLst>
              <a:ext uri="{FF2B5EF4-FFF2-40B4-BE49-F238E27FC236}">
                <a16:creationId xmlns:a16="http://schemas.microsoft.com/office/drawing/2014/main" id="{5A3B974C-7F70-4626-9812-58EA859346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9565" y="3129297"/>
            <a:ext cx="4948876" cy="2184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38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20000" y="1049009"/>
            <a:ext cx="5760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0" y="1049009"/>
            <a:ext cx="720000" cy="108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719998" y="121920"/>
            <a:ext cx="174599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200" spc="-300" dirty="0">
                <a:solidFill>
                  <a:schemeClr val="accent4">
                    <a:lumMod val="50000"/>
                  </a:schemeClr>
                </a:solidFill>
              </a:rPr>
              <a:t>모터 선정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5879" y="46855"/>
            <a:ext cx="534121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4800" b="1" dirty="0">
                <a:solidFill>
                  <a:schemeClr val="accent4"/>
                </a:solidFill>
              </a:rPr>
              <a:t>2</a:t>
            </a:r>
            <a:endParaRPr lang="ko-KR" altLang="en-US" sz="4800" b="1" dirty="0">
              <a:solidFill>
                <a:schemeClr val="accent4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352188" y="1366058"/>
            <a:ext cx="11543246" cy="465351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360000" y="1328166"/>
            <a:ext cx="11538856" cy="35366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1866504-6B21-48C3-888D-1294593A142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196" t="12225" r="13480" b="32921"/>
          <a:stretch/>
        </p:blipFill>
        <p:spPr>
          <a:xfrm>
            <a:off x="185879" y="1548073"/>
            <a:ext cx="7720554" cy="3761854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8041CB64-F384-435A-AED4-EC36E4E324AA}"/>
              </a:ext>
            </a:extLst>
          </p:cNvPr>
          <p:cNvSpPr/>
          <p:nvPr/>
        </p:nvSpPr>
        <p:spPr>
          <a:xfrm>
            <a:off x="8473003" y="2150696"/>
            <a:ext cx="2855860" cy="308423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highlight>
                  <a:srgbClr val="800000"/>
                </a:highlight>
              </a:rPr>
              <a:t>그러나 매우 비싼 가격대 형성</a:t>
            </a:r>
          </a:p>
        </p:txBody>
      </p:sp>
    </p:spTree>
    <p:extLst>
      <p:ext uri="{BB962C8B-B14F-4D97-AF65-F5344CB8AC3E}">
        <p14:creationId xmlns:p14="http://schemas.microsoft.com/office/powerpoint/2010/main" val="2919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20000" y="1049009"/>
            <a:ext cx="5760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0" y="1049009"/>
            <a:ext cx="720000" cy="108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719998" y="121920"/>
            <a:ext cx="174599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200" spc="-300" dirty="0">
                <a:solidFill>
                  <a:schemeClr val="accent4">
                    <a:lumMod val="50000"/>
                  </a:schemeClr>
                </a:solidFill>
              </a:rPr>
              <a:t>모터 선정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5879" y="46855"/>
            <a:ext cx="534121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4800" b="1" dirty="0">
                <a:solidFill>
                  <a:schemeClr val="accent4"/>
                </a:solidFill>
              </a:rPr>
              <a:t>2</a:t>
            </a:r>
            <a:endParaRPr lang="ko-KR" altLang="en-US" sz="4800" b="1" dirty="0">
              <a:solidFill>
                <a:schemeClr val="accent4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352188" y="1366058"/>
            <a:ext cx="11543246" cy="465351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360000" y="1328166"/>
            <a:ext cx="11538856" cy="35366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BE09AD3-ED44-4C70-BDEA-BFE1BD8D731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067" t="45636" r="38917" b="25086"/>
          <a:stretch/>
        </p:blipFill>
        <p:spPr>
          <a:xfrm>
            <a:off x="537328" y="2177592"/>
            <a:ext cx="7035845" cy="2413262"/>
          </a:xfrm>
          <a:prstGeom prst="rect">
            <a:avLst/>
          </a:prstGeom>
        </p:spPr>
      </p:pic>
      <p:sp>
        <p:nvSpPr>
          <p:cNvPr id="11" name="타원 10">
            <a:extLst>
              <a:ext uri="{FF2B5EF4-FFF2-40B4-BE49-F238E27FC236}">
                <a16:creationId xmlns:a16="http://schemas.microsoft.com/office/drawing/2014/main" id="{6B7E1BE2-AD24-44D5-9613-6252A22B9FA0}"/>
              </a:ext>
            </a:extLst>
          </p:cNvPr>
          <p:cNvSpPr/>
          <p:nvPr/>
        </p:nvSpPr>
        <p:spPr>
          <a:xfrm>
            <a:off x="1592993" y="1701698"/>
            <a:ext cx="5288437" cy="3248363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4A14FD2-F1E5-4901-9DA2-A64FA496A299}"/>
              </a:ext>
            </a:extLst>
          </p:cNvPr>
          <p:cNvSpPr/>
          <p:nvPr/>
        </p:nvSpPr>
        <p:spPr>
          <a:xfrm>
            <a:off x="8473003" y="2150696"/>
            <a:ext cx="2855860" cy="308423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highlight>
                  <a:srgbClr val="800000"/>
                </a:highlight>
              </a:rPr>
              <a:t>직접 제작도 생각 해 보았으나 </a:t>
            </a:r>
            <a:r>
              <a:rPr lang="en-US" altLang="ko-KR" dirty="0">
                <a:highlight>
                  <a:srgbClr val="800000"/>
                </a:highlight>
              </a:rPr>
              <a:t>ESC</a:t>
            </a:r>
            <a:r>
              <a:rPr lang="ko-KR" altLang="en-US" dirty="0">
                <a:highlight>
                  <a:srgbClr val="800000"/>
                </a:highlight>
              </a:rPr>
              <a:t>안에 있는 소자를 이용하여 직접 코딩하고 회로를 구성하기엔 어려울 것이라 판단</a:t>
            </a:r>
            <a:r>
              <a:rPr lang="en-US" altLang="ko-KR" dirty="0">
                <a:highlight>
                  <a:srgbClr val="800000"/>
                </a:highlight>
              </a:rPr>
              <a:t>.</a:t>
            </a:r>
            <a:endParaRPr lang="ko-KR" altLang="en-US" dirty="0">
              <a:highlight>
                <a:srgbClr val="800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975890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20000" y="1049009"/>
            <a:ext cx="5760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0" y="1049009"/>
            <a:ext cx="720000" cy="108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719998" y="121920"/>
            <a:ext cx="174599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200" spc="-300" dirty="0">
                <a:solidFill>
                  <a:schemeClr val="accent4">
                    <a:lumMod val="50000"/>
                  </a:schemeClr>
                </a:solidFill>
              </a:rPr>
              <a:t>모터 선정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5879" y="46855"/>
            <a:ext cx="534121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4800" b="1" dirty="0">
                <a:solidFill>
                  <a:schemeClr val="accent4"/>
                </a:solidFill>
              </a:rPr>
              <a:t>2</a:t>
            </a:r>
            <a:endParaRPr lang="ko-KR" altLang="en-US" sz="4800" b="1" dirty="0">
              <a:solidFill>
                <a:schemeClr val="accent4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352188" y="1366058"/>
            <a:ext cx="11543246" cy="465351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360000" y="1328166"/>
            <a:ext cx="11538856" cy="35366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4A14FD2-F1E5-4901-9DA2-A64FA496A299}"/>
              </a:ext>
            </a:extLst>
          </p:cNvPr>
          <p:cNvSpPr/>
          <p:nvPr/>
        </p:nvSpPr>
        <p:spPr>
          <a:xfrm>
            <a:off x="8473003" y="2150696"/>
            <a:ext cx="2855860" cy="308423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highlight>
                  <a:srgbClr val="800000"/>
                </a:highlight>
              </a:rPr>
              <a:t>사진은 전자변속기의 실제 </a:t>
            </a:r>
            <a:r>
              <a:rPr lang="ko-KR" altLang="en-US" dirty="0" err="1">
                <a:highlight>
                  <a:srgbClr val="800000"/>
                </a:highlight>
              </a:rPr>
              <a:t>회로도이다</a:t>
            </a:r>
            <a:r>
              <a:rPr lang="en-US" altLang="ko-KR" dirty="0">
                <a:highlight>
                  <a:srgbClr val="800000"/>
                </a:highlight>
              </a:rPr>
              <a:t>.</a:t>
            </a:r>
            <a:endParaRPr lang="ko-KR" altLang="en-US" dirty="0">
              <a:highlight>
                <a:srgbClr val="800000"/>
              </a:highlight>
            </a:endParaRPr>
          </a:p>
        </p:txBody>
      </p:sp>
      <p:pic>
        <p:nvPicPr>
          <p:cNvPr id="2050" name="Picture 2" descr="RC용 전자변속기(ESC) 검토 : 네이버 블로그">
            <a:extLst>
              <a:ext uri="{FF2B5EF4-FFF2-40B4-BE49-F238E27FC236}">
                <a16:creationId xmlns:a16="http://schemas.microsoft.com/office/drawing/2014/main" id="{32FBE41F-71F0-474A-B5C5-E6F7208852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932" y="1784134"/>
            <a:ext cx="7048500" cy="3486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0994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20000" y="1049009"/>
            <a:ext cx="5760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0" y="1049009"/>
            <a:ext cx="720000" cy="108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719998" y="121920"/>
            <a:ext cx="174599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200" spc="-300" dirty="0">
                <a:solidFill>
                  <a:schemeClr val="accent4">
                    <a:lumMod val="50000"/>
                  </a:schemeClr>
                </a:solidFill>
              </a:rPr>
              <a:t>모터 선정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5879" y="46855"/>
            <a:ext cx="534121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4800" b="1" dirty="0">
                <a:solidFill>
                  <a:schemeClr val="accent4"/>
                </a:solidFill>
              </a:rPr>
              <a:t>2</a:t>
            </a:r>
            <a:endParaRPr lang="ko-KR" altLang="en-US" sz="4800" b="1" dirty="0">
              <a:solidFill>
                <a:schemeClr val="accent4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352188" y="1366058"/>
            <a:ext cx="11543246" cy="465351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360000" y="1328166"/>
            <a:ext cx="11538856" cy="35366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7170" name="Picture 2" descr="성지전자 브러쉬리스모터용 전자 변속기 35A Brsuhless Control ESC (5.5~15V/G2) *헬기 비행기 및 자동차  사용가능]">
            <a:extLst>
              <a:ext uri="{FF2B5EF4-FFF2-40B4-BE49-F238E27FC236}">
                <a16:creationId xmlns:a16="http://schemas.microsoft.com/office/drawing/2014/main" id="{76BFEB0C-2B43-400C-B0DC-9113D0253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8158" y="2480368"/>
            <a:ext cx="4948876" cy="2184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48EADA43-E74A-4F43-8728-E781EA4AE5B4}"/>
              </a:ext>
            </a:extLst>
          </p:cNvPr>
          <p:cNvSpPr/>
          <p:nvPr/>
        </p:nvSpPr>
        <p:spPr>
          <a:xfrm>
            <a:off x="8473003" y="2150696"/>
            <a:ext cx="2855860" cy="308423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highlight>
                  <a:srgbClr val="800000"/>
                </a:highlight>
              </a:rPr>
              <a:t>따라서 연구실에 </a:t>
            </a:r>
            <a:r>
              <a:rPr lang="en-US" altLang="ko-KR" dirty="0">
                <a:highlight>
                  <a:srgbClr val="800000"/>
                </a:highlight>
              </a:rPr>
              <a:t>ESC</a:t>
            </a:r>
            <a:r>
              <a:rPr lang="ko-KR" altLang="en-US" dirty="0">
                <a:highlight>
                  <a:srgbClr val="800000"/>
                </a:highlight>
              </a:rPr>
              <a:t>가 </a:t>
            </a:r>
            <a:r>
              <a:rPr lang="ko-KR" altLang="en-US" dirty="0" err="1">
                <a:highlight>
                  <a:srgbClr val="800000"/>
                </a:highlight>
              </a:rPr>
              <a:t>구비되어있으면</a:t>
            </a:r>
            <a:r>
              <a:rPr lang="ko-KR" altLang="en-US" dirty="0">
                <a:highlight>
                  <a:srgbClr val="800000"/>
                </a:highlight>
              </a:rPr>
              <a:t> 그것을 사용할 생각입니다</a:t>
            </a:r>
            <a:r>
              <a:rPr lang="en-US" altLang="ko-KR" dirty="0">
                <a:highlight>
                  <a:srgbClr val="800000"/>
                </a:highlight>
              </a:rPr>
              <a:t>. </a:t>
            </a:r>
            <a:r>
              <a:rPr lang="ko-KR" altLang="en-US" dirty="0">
                <a:highlight>
                  <a:srgbClr val="800000"/>
                </a:highlight>
              </a:rPr>
              <a:t>없다면 사비를 들여서 직접 구입할 생각입니다</a:t>
            </a:r>
            <a:r>
              <a:rPr lang="en-US" altLang="ko-KR">
                <a:highlight>
                  <a:srgbClr val="800000"/>
                </a:highlight>
              </a:rPr>
              <a:t>.</a:t>
            </a:r>
            <a:endParaRPr lang="ko-KR" altLang="en-US" dirty="0">
              <a:highlight>
                <a:srgbClr val="800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01557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theme/theme1.xml><?xml version="1.0" encoding="utf-8"?>
<a:theme xmlns:a="http://schemas.openxmlformats.org/drawingml/2006/main" name="Office 테마">
  <a:themeElements>
    <a:clrScheme name="YELLOW_">
      <a:dk1>
        <a:sysClr val="windowText" lastClr="000000"/>
      </a:dk1>
      <a:lt1>
        <a:sysClr val="window" lastClr="FFFFFF"/>
      </a:lt1>
      <a:dk2>
        <a:srgbClr val="7F7F7F"/>
      </a:dk2>
      <a:lt2>
        <a:srgbClr val="E7E6E6"/>
      </a:lt2>
      <a:accent1>
        <a:srgbClr val="FBCE01"/>
      </a:accent1>
      <a:accent2>
        <a:srgbClr val="FDDE45"/>
      </a:accent2>
      <a:accent3>
        <a:srgbClr val="D8BEA7"/>
      </a:accent3>
      <a:accent4>
        <a:srgbClr val="A6A7A9"/>
      </a:accent4>
      <a:accent5>
        <a:srgbClr val="EDE5D5"/>
      </a:accent5>
      <a:accent6>
        <a:srgbClr val="FCFBF7"/>
      </a:accent6>
      <a:hlink>
        <a:srgbClr val="595959"/>
      </a:hlink>
      <a:folHlink>
        <a:srgbClr val="595959"/>
      </a:folHlink>
    </a:clrScheme>
    <a:fontScheme name="요즘 유행 스타일">
      <a:majorFont>
        <a:latin typeface="Arial Nova"/>
        <a:ea typeface="나눔스퀘어 Bold"/>
        <a:cs typeface=""/>
      </a:majorFont>
      <a:minorFont>
        <a:latin typeface="Arial Nova"/>
        <a:ea typeface="나눔스퀘어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10860</TotalTime>
  <Words>171</Words>
  <Application>Microsoft Office PowerPoint</Application>
  <PresentationFormat>와이드스크린</PresentationFormat>
  <Paragraphs>37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5" baseType="lpstr">
      <vt:lpstr>나눔스퀘어 Bold</vt:lpstr>
      <vt:lpstr>Arial</vt:lpstr>
      <vt:lpstr>Arial Nova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Yu Saebyeol</dc:creator>
  <cp:lastModifiedBy>yun-sung ho</cp:lastModifiedBy>
  <cp:revision>114</cp:revision>
  <dcterms:created xsi:type="dcterms:W3CDTF">2020-12-13T00:02:47Z</dcterms:created>
  <dcterms:modified xsi:type="dcterms:W3CDTF">2022-01-19T02:40:11Z</dcterms:modified>
  <cp:version>1000.0000.01</cp:version>
</cp:coreProperties>
</file>